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2506c15-d7d1-3b06-98c0-d98da76485ce}">
          <p14:sldIdLst>
            <p14:sldId id="256"/>
          </p14:sldIdLst>
        </p14:section>
        <p14:section name="Application" id="{ad70bf60-f2d0-29cd-a4de-b88029f3fdfb}">
          <p14:sldIdLst>
            <p14:sldId id="257"/>
            <p14:sldId id="258"/>
            <p14:sldId id="259"/>
          </p14:sldIdLst>
        </p14:section>
        <p14:section name="Build and ship" id="{4d2b5f15-8811-fbe3-f5d1-ff5325883140}">
          <p14:sldIdLst>
            <p14:sldId id="260"/>
            <p14:sldId id="261"/>
            <p14:sldId id="262"/>
            <p14:sldId id="263"/>
            <p14:sldId id="264"/>
          </p14:sldIdLst>
        </p14:section>
        <p14:section name="Run on AWS" id="{9fcdf9be-b754-a6ef-3b0d-b6bc95b31460}">
          <p14:sldIdLst>
            <p14:sldId id="265"/>
            <p14:sldId id="266"/>
            <p14:sldId id="267"/>
            <p14:sldId id="268"/>
          </p14:sldIdLst>
        </p14:section>
        <p14:section name="Wrap-up" id="{70438820-1637-469a-37ad-1725364bf21d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CareSlot  ·  Session 21 Final DevOps Project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CareSlot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Clinic appointment booking, shipped end-to-end with DevOps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Saniya Sanjiv Patil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8B2"/>
                </a:solidFill>
              </a:rPr>
              <a:t>Roll No. 24bcs10246  ·  Session 21 Final DevOps Project</a:t>
            </a:r>
            <a:endParaRPr lang="en-US" sz="1400" dirty="0"/>
          </a:p>
        </p:txBody>
      </p:sp>
      <p:sp>
        <p:nvSpPr>
          <p:cNvPr id="5" name="chip FastAPI"/>
          <p:cNvSpPr/>
          <p:nvPr/>
        </p:nvSpPr>
        <p:spPr>
          <a:xfrm>
            <a:off x="548640" y="3246120"/>
            <a:ext cx="735178" cy="274320"/>
          </a:xfrm>
          <a:prstGeom prst="roundRect">
            <a:avLst>
              <a:gd name="adj" fmla="val 50000"/>
            </a:avLst>
          </a:prstGeom>
          <a:solidFill>
            <a:srgbClr val="12403C"/>
          </a:solidFill>
          <a:ln w="12700">
            <a:solidFill>
              <a:srgbClr val="145A5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246120"/>
            <a:ext cx="73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BE8"/>
                </a:solidFill>
              </a:rPr>
              <a:t>FastAPI</a:t>
            </a:r>
            <a:endParaRPr lang="en-US" sz="1000" dirty="0"/>
          </a:p>
        </p:txBody>
      </p:sp>
      <p:sp>
        <p:nvSpPr>
          <p:cNvPr id="7" name="chip React"/>
          <p:cNvSpPr/>
          <p:nvPr/>
        </p:nvSpPr>
        <p:spPr>
          <a:xfrm>
            <a:off x="1356970" y="3246120"/>
            <a:ext cx="603504" cy="274320"/>
          </a:xfrm>
          <a:prstGeom prst="roundRect">
            <a:avLst>
              <a:gd name="adj" fmla="val 50000"/>
            </a:avLst>
          </a:prstGeom>
          <a:solidFill>
            <a:srgbClr val="12403C"/>
          </a:solidFill>
          <a:ln w="12700">
            <a:solidFill>
              <a:srgbClr val="145A5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56970" y="324612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BE8"/>
                </a:solidFill>
              </a:rPr>
              <a:t>React</a:t>
            </a:r>
            <a:endParaRPr lang="en-US" sz="1000" dirty="0"/>
          </a:p>
        </p:txBody>
      </p:sp>
      <p:sp>
        <p:nvSpPr>
          <p:cNvPr id="9" name="chip PostgreSQL"/>
          <p:cNvSpPr/>
          <p:nvPr/>
        </p:nvSpPr>
        <p:spPr>
          <a:xfrm>
            <a:off x="2033626" y="3246120"/>
            <a:ext cx="932688" cy="274320"/>
          </a:xfrm>
          <a:prstGeom prst="roundRect">
            <a:avLst>
              <a:gd name="adj" fmla="val 50000"/>
            </a:avLst>
          </a:prstGeom>
          <a:solidFill>
            <a:srgbClr val="12403C"/>
          </a:solidFill>
          <a:ln w="12700">
            <a:solidFill>
              <a:srgbClr val="145A5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33626" y="324612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BE8"/>
                </a:solidFill>
              </a:rPr>
              <a:t>PostgreSQL</a:t>
            </a:r>
            <a:endParaRPr lang="en-US" sz="1000" dirty="0"/>
          </a:p>
        </p:txBody>
      </p:sp>
      <p:sp>
        <p:nvSpPr>
          <p:cNvPr id="11" name="chip Docker"/>
          <p:cNvSpPr/>
          <p:nvPr/>
        </p:nvSpPr>
        <p:spPr>
          <a:xfrm>
            <a:off x="3039466" y="3246120"/>
            <a:ext cx="669341" cy="274320"/>
          </a:xfrm>
          <a:prstGeom prst="roundRect">
            <a:avLst>
              <a:gd name="adj" fmla="val 50000"/>
            </a:avLst>
          </a:prstGeom>
          <a:solidFill>
            <a:srgbClr val="12403C"/>
          </a:solidFill>
          <a:ln w="12700">
            <a:solidFill>
              <a:srgbClr val="145A5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39466" y="3246120"/>
            <a:ext cx="6693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BE8"/>
                </a:solidFill>
              </a:rPr>
              <a:t>Docker</a:t>
            </a:r>
            <a:endParaRPr lang="en-US" sz="1000" dirty="0"/>
          </a:p>
        </p:txBody>
      </p:sp>
      <p:sp>
        <p:nvSpPr>
          <p:cNvPr id="13" name="chip GitHub Actions"/>
          <p:cNvSpPr/>
          <p:nvPr/>
        </p:nvSpPr>
        <p:spPr>
          <a:xfrm>
            <a:off x="3781958" y="3246120"/>
            <a:ext cx="1196035" cy="274320"/>
          </a:xfrm>
          <a:prstGeom prst="roundRect">
            <a:avLst>
              <a:gd name="adj" fmla="val 50000"/>
            </a:avLst>
          </a:prstGeom>
          <a:solidFill>
            <a:srgbClr val="12403C"/>
          </a:solidFill>
          <a:ln w="12700">
            <a:solidFill>
              <a:srgbClr val="145A5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81958" y="3246120"/>
            <a:ext cx="11960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BE8"/>
                </a:solidFill>
              </a:rPr>
              <a:t>GitHub Actions</a:t>
            </a:r>
            <a:endParaRPr lang="en-US" sz="1000" dirty="0"/>
          </a:p>
        </p:txBody>
      </p:sp>
      <p:sp>
        <p:nvSpPr>
          <p:cNvPr id="15" name="chip Trivy"/>
          <p:cNvSpPr/>
          <p:nvPr/>
        </p:nvSpPr>
        <p:spPr>
          <a:xfrm>
            <a:off x="5051146" y="3246120"/>
            <a:ext cx="603504" cy="274320"/>
          </a:xfrm>
          <a:prstGeom prst="roundRect">
            <a:avLst>
              <a:gd name="adj" fmla="val 50000"/>
            </a:avLst>
          </a:prstGeom>
          <a:solidFill>
            <a:srgbClr val="12403C"/>
          </a:solidFill>
          <a:ln w="12700">
            <a:solidFill>
              <a:srgbClr val="145A5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51146" y="324612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BE8"/>
                </a:solidFill>
              </a:rPr>
              <a:t>Trivy</a:t>
            </a:r>
            <a:endParaRPr lang="en-US" sz="1000" dirty="0"/>
          </a:p>
        </p:txBody>
      </p:sp>
      <p:sp>
        <p:nvSpPr>
          <p:cNvPr id="17" name="chip GHCR"/>
          <p:cNvSpPr/>
          <p:nvPr/>
        </p:nvSpPr>
        <p:spPr>
          <a:xfrm>
            <a:off x="5727802" y="3246120"/>
            <a:ext cx="537667" cy="274320"/>
          </a:xfrm>
          <a:prstGeom prst="roundRect">
            <a:avLst>
              <a:gd name="adj" fmla="val 50000"/>
            </a:avLst>
          </a:prstGeom>
          <a:solidFill>
            <a:srgbClr val="12403C"/>
          </a:solidFill>
          <a:ln w="12700">
            <a:solidFill>
              <a:srgbClr val="145A5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27802" y="3246120"/>
            <a:ext cx="5376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BE8"/>
                </a:solidFill>
              </a:rPr>
              <a:t>GHCR</a:t>
            </a:r>
            <a:endParaRPr lang="en-US" sz="1000" dirty="0"/>
          </a:p>
        </p:txBody>
      </p:sp>
      <p:sp>
        <p:nvSpPr>
          <p:cNvPr id="19" name="chip Terraform"/>
          <p:cNvSpPr/>
          <p:nvPr/>
        </p:nvSpPr>
        <p:spPr>
          <a:xfrm>
            <a:off x="6338621" y="3246120"/>
            <a:ext cx="866851" cy="274320"/>
          </a:xfrm>
          <a:prstGeom prst="roundRect">
            <a:avLst>
              <a:gd name="adj" fmla="val 50000"/>
            </a:avLst>
          </a:prstGeom>
          <a:solidFill>
            <a:srgbClr val="12403C"/>
          </a:solidFill>
          <a:ln w="12700">
            <a:solidFill>
              <a:srgbClr val="145A5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38621" y="3246120"/>
            <a:ext cx="866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BE8"/>
                </a:solidFill>
              </a:rPr>
              <a:t>Terraform</a:t>
            </a:r>
            <a:endParaRPr lang="en-US" sz="1000" dirty="0"/>
          </a:p>
        </p:txBody>
      </p:sp>
      <p:sp>
        <p:nvSpPr>
          <p:cNvPr id="21" name="chip EKS"/>
          <p:cNvSpPr/>
          <p:nvPr/>
        </p:nvSpPr>
        <p:spPr>
          <a:xfrm>
            <a:off x="7278624" y="3246120"/>
            <a:ext cx="471830" cy="274320"/>
          </a:xfrm>
          <a:prstGeom prst="roundRect">
            <a:avLst>
              <a:gd name="adj" fmla="val 50000"/>
            </a:avLst>
          </a:prstGeom>
          <a:solidFill>
            <a:srgbClr val="12403C"/>
          </a:solidFill>
          <a:ln w="12700">
            <a:solidFill>
              <a:srgbClr val="145A5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78624" y="3246120"/>
            <a:ext cx="471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BE8"/>
                </a:solidFill>
              </a:rPr>
              <a:t>EKS</a:t>
            </a:r>
            <a:endParaRPr lang="en-US" sz="1000" dirty="0"/>
          </a:p>
        </p:txBody>
      </p:sp>
      <p:sp>
        <p:nvSpPr>
          <p:cNvPr id="23" name="chip Helm"/>
          <p:cNvSpPr/>
          <p:nvPr/>
        </p:nvSpPr>
        <p:spPr>
          <a:xfrm>
            <a:off x="7823606" y="3246120"/>
            <a:ext cx="537667" cy="274320"/>
          </a:xfrm>
          <a:prstGeom prst="roundRect">
            <a:avLst>
              <a:gd name="adj" fmla="val 50000"/>
            </a:avLst>
          </a:prstGeom>
          <a:solidFill>
            <a:srgbClr val="12403C"/>
          </a:solidFill>
          <a:ln w="12700">
            <a:solidFill>
              <a:srgbClr val="145A5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23606" y="3246120"/>
            <a:ext cx="5376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BE8"/>
                </a:solidFill>
              </a:rPr>
              <a:t>Helm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CareSlot does</a:t>
            </a:r>
            <a:endParaRPr lang="en-US" sz="2600" dirty="0"/>
          </a:p>
        </p:txBody>
      </p:sp>
      <p:sp>
        <p:nvSpPr>
          <p:cNvPr id="3" name="badge 1"/>
          <p:cNvSpPr/>
          <p:nvPr/>
        </p:nvSpPr>
        <p:spPr>
          <a:xfrm>
            <a:off x="457200" y="106984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69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051560"/>
            <a:ext cx="2834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Book appointments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Patient, doctor, time and reason; a slot can never be double-booked (API returns 409)</a:t>
            </a:r>
            <a:endParaRPr lang="en-US" sz="1500" dirty="0"/>
          </a:p>
        </p:txBody>
      </p:sp>
      <p:sp>
        <p:nvSpPr>
          <p:cNvPr id="6" name="badge 2"/>
          <p:cNvSpPr/>
          <p:nvPr/>
        </p:nvSpPr>
        <p:spPr>
          <a:xfrm>
            <a:off x="457200" y="202996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029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011680"/>
            <a:ext cx="2834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Run the front desk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Today, upcoming, in-clinic and completed counts; check-in, complete, cancel, no-show</a:t>
            </a:r>
            <a:endParaRPr lang="en-US" sz="1500" dirty="0"/>
          </a:p>
        </p:txBody>
      </p:sp>
      <p:sp>
        <p:nvSpPr>
          <p:cNvPr id="9" name="badge 3"/>
          <p:cNvSpPr/>
          <p:nvPr/>
        </p:nvSpPr>
        <p:spPr>
          <a:xfrm>
            <a:off x="457200" y="299008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990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71800"/>
            <a:ext cx="2834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Manage doctors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Specialities, active status and each doctor's workload for the day</a:t>
            </a:r>
            <a:endParaRPr lang="en-US" sz="1500" dirty="0"/>
          </a:p>
        </p:txBody>
      </p:sp>
      <p:sp>
        <p:nvSpPr>
          <p:cNvPr id="12" name="frame 01-app-dashboard.png"/>
          <p:cNvSpPr/>
          <p:nvPr/>
        </p:nvSpPr>
        <p:spPr>
          <a:xfrm>
            <a:off x="3950208" y="1119854"/>
            <a:ext cx="4764024" cy="329241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01-app-dashboard.png" descr="01-app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147286"/>
            <a:ext cx="4709160" cy="32375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delivery chain I built</a:t>
            </a:r>
            <a:endParaRPr lang="en-US" sz="2600" dirty="0"/>
          </a:p>
        </p:txBody>
      </p:sp>
      <p:sp>
        <p:nvSpPr>
          <p:cNvPr id="3" name="step Code"/>
          <p:cNvSpPr/>
          <p:nvPr/>
        </p:nvSpPr>
        <p:spPr>
          <a:xfrm>
            <a:off x="457200" y="1051560"/>
            <a:ext cx="17830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badge 1"/>
          <p:cNvSpPr/>
          <p:nvPr/>
        </p:nvSpPr>
        <p:spPr>
          <a:xfrm>
            <a:off x="566928" y="116128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161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9047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Code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FastAPI + React</a:t>
            </a:r>
            <a:endParaRPr lang="en-US" sz="1400" dirty="0"/>
          </a:p>
        </p:txBody>
      </p:sp>
      <p:sp>
        <p:nvSpPr>
          <p:cNvPr id="7" name="arrow 0"/>
          <p:cNvSpPr/>
          <p:nvPr/>
        </p:nvSpPr>
        <p:spPr>
          <a:xfrm>
            <a:off x="2286000" y="1417320"/>
            <a:ext cx="228600" cy="18288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step Git"/>
          <p:cNvSpPr/>
          <p:nvPr/>
        </p:nvSpPr>
        <p:spPr>
          <a:xfrm>
            <a:off x="2560320" y="1051560"/>
            <a:ext cx="17830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badge 2"/>
          <p:cNvSpPr/>
          <p:nvPr/>
        </p:nvSpPr>
        <p:spPr>
          <a:xfrm>
            <a:off x="2670048" y="116128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70048" y="1161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670048" y="149047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Git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commit + push</a:t>
            </a:r>
            <a:endParaRPr lang="en-US" sz="1400" dirty="0"/>
          </a:p>
        </p:txBody>
      </p:sp>
      <p:sp>
        <p:nvSpPr>
          <p:cNvPr id="12" name="arrow 1"/>
          <p:cNvSpPr/>
          <p:nvPr/>
        </p:nvSpPr>
        <p:spPr>
          <a:xfrm>
            <a:off x="4389120" y="1417320"/>
            <a:ext cx="228600" cy="18288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step CI tests"/>
          <p:cNvSpPr/>
          <p:nvPr/>
        </p:nvSpPr>
        <p:spPr>
          <a:xfrm>
            <a:off x="4663440" y="1051560"/>
            <a:ext cx="17830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4773168" y="116128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73168" y="1161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773168" y="149047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CI tests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pytest, 15 cases</a:t>
            </a:r>
            <a:endParaRPr lang="en-US" sz="1400" dirty="0"/>
          </a:p>
        </p:txBody>
      </p:sp>
      <p:sp>
        <p:nvSpPr>
          <p:cNvPr id="17" name="arrow 2"/>
          <p:cNvSpPr/>
          <p:nvPr/>
        </p:nvSpPr>
        <p:spPr>
          <a:xfrm>
            <a:off x="6492240" y="1417320"/>
            <a:ext cx="228600" cy="18288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step Security"/>
          <p:cNvSpPr/>
          <p:nvPr/>
        </p:nvSpPr>
        <p:spPr>
          <a:xfrm>
            <a:off x="6766560" y="1051560"/>
            <a:ext cx="17830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badge 4"/>
          <p:cNvSpPr/>
          <p:nvPr/>
        </p:nvSpPr>
        <p:spPr>
          <a:xfrm>
            <a:off x="6876288" y="116128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76288" y="1161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76288" y="149047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Security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SAST · SCA · IaC · secrets</a:t>
            </a:r>
            <a:endParaRPr lang="en-US" sz="1400" dirty="0"/>
          </a:p>
        </p:txBody>
      </p:sp>
      <p:sp>
        <p:nvSpPr>
          <p:cNvPr id="22" name="step Docker"/>
          <p:cNvSpPr/>
          <p:nvPr/>
        </p:nvSpPr>
        <p:spPr>
          <a:xfrm>
            <a:off x="457200" y="2240280"/>
            <a:ext cx="1783080" cy="9144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badge 5"/>
          <p:cNvSpPr/>
          <p:nvPr/>
        </p:nvSpPr>
        <p:spPr>
          <a:xfrm>
            <a:off x="566928" y="235000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" y="2350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267919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Docker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non-root images</a:t>
            </a:r>
            <a:endParaRPr lang="en-US" sz="1400" dirty="0"/>
          </a:p>
        </p:txBody>
      </p:sp>
      <p:sp>
        <p:nvSpPr>
          <p:cNvPr id="26" name="arrow 4"/>
          <p:cNvSpPr/>
          <p:nvPr/>
        </p:nvSpPr>
        <p:spPr>
          <a:xfrm>
            <a:off x="2286000" y="2606040"/>
            <a:ext cx="228600" cy="18288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step Trivy"/>
          <p:cNvSpPr/>
          <p:nvPr/>
        </p:nvSpPr>
        <p:spPr>
          <a:xfrm>
            <a:off x="2560320" y="2240280"/>
            <a:ext cx="1783080" cy="9144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8" name="badge 6"/>
          <p:cNvSpPr/>
          <p:nvPr/>
        </p:nvSpPr>
        <p:spPr>
          <a:xfrm>
            <a:off x="2670048" y="235000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670048" y="2350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2670048" y="267919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Trivy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image CVE gate</a:t>
            </a:r>
            <a:endParaRPr lang="en-US" sz="1400" dirty="0"/>
          </a:p>
        </p:txBody>
      </p:sp>
      <p:sp>
        <p:nvSpPr>
          <p:cNvPr id="31" name="arrow 5"/>
          <p:cNvSpPr/>
          <p:nvPr/>
        </p:nvSpPr>
        <p:spPr>
          <a:xfrm>
            <a:off x="4389120" y="2606040"/>
            <a:ext cx="228600" cy="18288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step GHCR"/>
          <p:cNvSpPr/>
          <p:nvPr/>
        </p:nvSpPr>
        <p:spPr>
          <a:xfrm>
            <a:off x="4663440" y="2240280"/>
            <a:ext cx="1783080" cy="9144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3" name="badge 7"/>
          <p:cNvSpPr/>
          <p:nvPr/>
        </p:nvSpPr>
        <p:spPr>
          <a:xfrm>
            <a:off x="4773168" y="235000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773168" y="2350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773168" y="267919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GHCR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tag = commit SHA</a:t>
            </a:r>
            <a:endParaRPr lang="en-US" sz="1400" dirty="0"/>
          </a:p>
        </p:txBody>
      </p:sp>
      <p:sp>
        <p:nvSpPr>
          <p:cNvPr id="36" name="arrow 6"/>
          <p:cNvSpPr/>
          <p:nvPr/>
        </p:nvSpPr>
        <p:spPr>
          <a:xfrm>
            <a:off x="6492240" y="2606040"/>
            <a:ext cx="228600" cy="18288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step Terraform"/>
          <p:cNvSpPr/>
          <p:nvPr/>
        </p:nvSpPr>
        <p:spPr>
          <a:xfrm>
            <a:off x="6766560" y="2240280"/>
            <a:ext cx="1783080" cy="9144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8" name="badge 8"/>
          <p:cNvSpPr/>
          <p:nvPr/>
        </p:nvSpPr>
        <p:spPr>
          <a:xfrm>
            <a:off x="6876288" y="235000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76288" y="2350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876288" y="267919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Terraform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VPC + EKS on AWS</a:t>
            </a:r>
            <a:endParaRPr lang="en-US" sz="1400" dirty="0"/>
          </a:p>
        </p:txBody>
      </p:sp>
      <p:sp>
        <p:nvSpPr>
          <p:cNvPr id="41" name="step Kubernetes"/>
          <p:cNvSpPr/>
          <p:nvPr/>
        </p:nvSpPr>
        <p:spPr>
          <a:xfrm>
            <a:off x="457200" y="3429000"/>
            <a:ext cx="17830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2" name="badge 9"/>
          <p:cNvSpPr/>
          <p:nvPr/>
        </p:nvSpPr>
        <p:spPr>
          <a:xfrm>
            <a:off x="566928" y="353872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66928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566928" y="386791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Kubernetes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EKS, 2 nodes</a:t>
            </a:r>
            <a:endParaRPr lang="en-US" sz="1400" dirty="0"/>
          </a:p>
        </p:txBody>
      </p:sp>
      <p:sp>
        <p:nvSpPr>
          <p:cNvPr id="45" name="arrow 8"/>
          <p:cNvSpPr/>
          <p:nvPr/>
        </p:nvSpPr>
        <p:spPr>
          <a:xfrm>
            <a:off x="2286000" y="3794760"/>
            <a:ext cx="228600" cy="18288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6" name="step Helm"/>
          <p:cNvSpPr/>
          <p:nvPr/>
        </p:nvSpPr>
        <p:spPr>
          <a:xfrm>
            <a:off x="2560320" y="3429000"/>
            <a:ext cx="17830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7" name="badge 10"/>
          <p:cNvSpPr/>
          <p:nvPr/>
        </p:nvSpPr>
        <p:spPr>
          <a:xfrm>
            <a:off x="2670048" y="353872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670048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2670048" y="386791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Helm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one chart, all objects</a:t>
            </a:r>
            <a:endParaRPr lang="en-US" sz="1400" dirty="0"/>
          </a:p>
        </p:txBody>
      </p:sp>
      <p:sp>
        <p:nvSpPr>
          <p:cNvPr id="50" name="arrow 9"/>
          <p:cNvSpPr/>
          <p:nvPr/>
        </p:nvSpPr>
        <p:spPr>
          <a:xfrm>
            <a:off x="4389120" y="3794760"/>
            <a:ext cx="228600" cy="18288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1" name="step Ingress + HPA"/>
          <p:cNvSpPr/>
          <p:nvPr/>
        </p:nvSpPr>
        <p:spPr>
          <a:xfrm>
            <a:off x="4663440" y="3429000"/>
            <a:ext cx="17830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2" name="badge 11"/>
          <p:cNvSpPr/>
          <p:nvPr/>
        </p:nvSpPr>
        <p:spPr>
          <a:xfrm>
            <a:off x="4773168" y="353872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773168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11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4773168" y="386791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Ingress + HPA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AWS LB, autoscaling</a:t>
            </a:r>
            <a:endParaRPr lang="en-US" sz="1400" dirty="0"/>
          </a:p>
        </p:txBody>
      </p:sp>
      <p:sp>
        <p:nvSpPr>
          <p:cNvPr id="55" name="arrow 10"/>
          <p:cNvSpPr/>
          <p:nvPr/>
        </p:nvSpPr>
        <p:spPr>
          <a:xfrm>
            <a:off x="6492240" y="3794760"/>
            <a:ext cx="228600" cy="18288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6" name="step Monitoring"/>
          <p:cNvSpPr/>
          <p:nvPr/>
        </p:nvSpPr>
        <p:spPr>
          <a:xfrm>
            <a:off x="6766560" y="3429000"/>
            <a:ext cx="17830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7" name="badge 12"/>
          <p:cNvSpPr/>
          <p:nvPr/>
        </p:nvSpPr>
        <p:spPr>
          <a:xfrm>
            <a:off x="6876288" y="353872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876288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12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6876288" y="386791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Monitoring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Prometheus + Grafana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Every push to main runs the whole chain automatically: test → scan → build → push → deploy → verify.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and API</a:t>
            </a:r>
            <a:endParaRPr lang="en-US" sz="2600" dirty="0"/>
          </a:p>
        </p:txBody>
      </p:sp>
      <p:sp>
        <p:nvSpPr>
          <p:cNvPr id="3" name="frame 02-app-book-appointment.png"/>
          <p:cNvSpPr/>
          <p:nvPr/>
        </p:nvSpPr>
        <p:spPr>
          <a:xfrm>
            <a:off x="429768" y="1024128"/>
            <a:ext cx="4078224" cy="256946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02-app-book-appointment.png" descr="02-app-book-appoint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023360" cy="2514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6576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React + Vite front desk, served by nginx</a:t>
            </a:r>
            <a:endParaRPr lang="en-US" sz="1000" dirty="0"/>
          </a:p>
        </p:txBody>
      </p:sp>
      <p:sp>
        <p:nvSpPr>
          <p:cNvPr id="6" name="frame c05.jpg"/>
          <p:cNvSpPr/>
          <p:nvPr/>
        </p:nvSpPr>
        <p:spPr>
          <a:xfrm>
            <a:off x="5146482" y="932688"/>
            <a:ext cx="3057277" cy="275234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c05.jpg" descr="c0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914" y="960120"/>
            <a:ext cx="3002413" cy="26974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173914" y="3749040"/>
            <a:ext cx="30024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FastAPI Swagger at /docs: doctors and appointments CRUD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FastAPI  ·  SQLAlchemy 2  ·  Alembic migrations  ·  PostgreSQL 16  ·  /health, /ready, /metrics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gate everything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pytest cases, all passing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1460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Health and readiness, doctors CRUD, booking, double-booking 409, reschedule, status flow and stats. They run on an isolated SQLite database, so CI needs no Postgres. A failing test stops the pipeline before any image is built.</a:t>
            </a:r>
            <a:endParaRPr lang="en-US" sz="1200" dirty="0"/>
          </a:p>
        </p:txBody>
      </p:sp>
      <p:sp>
        <p:nvSpPr>
          <p:cNvPr id="6" name="frame c06.jpg"/>
          <p:cNvSpPr/>
          <p:nvPr/>
        </p:nvSpPr>
        <p:spPr>
          <a:xfrm>
            <a:off x="3127248" y="1163722"/>
            <a:ext cx="5586984" cy="3204677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c06.jpg" descr="c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1191154"/>
            <a:ext cx="5532120" cy="314981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Containers: small, patched, non-root</a:t>
            </a:r>
            <a:endParaRPr lang="en-US" sz="2600" dirty="0"/>
          </a:p>
        </p:txBody>
      </p:sp>
      <p:sp>
        <p:nvSpPr>
          <p:cNvPr id="3" name="card Backend image"/>
          <p:cNvSpPr/>
          <p:nvPr/>
        </p:nvSpPr>
        <p:spPr>
          <a:xfrm>
            <a:off x="457200" y="1051560"/>
            <a:ext cx="26060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badge 1"/>
          <p:cNvSpPr/>
          <p:nvPr/>
        </p:nvSpPr>
        <p:spPr>
          <a:xfrm>
            <a:off x="640080" y="123444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2344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Backend image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3736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python:3.12-slim, OS packages upgraded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Runs as uid 10001, not root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Runs Alembic migrations, then uvicorn</a:t>
            </a:r>
            <a:endParaRPr lang="en-US" sz="1200" dirty="0"/>
          </a:p>
        </p:txBody>
      </p:sp>
      <p:sp>
        <p:nvSpPr>
          <p:cNvPr id="8" name="card Frontend image"/>
          <p:cNvSpPr/>
          <p:nvPr/>
        </p:nvSpPr>
        <p:spPr>
          <a:xfrm>
            <a:off x="3246120" y="1051560"/>
            <a:ext cx="26060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badge 2"/>
          <p:cNvSpPr/>
          <p:nvPr/>
        </p:nvSpPr>
        <p:spPr>
          <a:xfrm>
            <a:off x="3429000" y="123444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886200" y="12344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Frontend image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73736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Multi-stage: node:22 builds, nginx serves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nginx-unprivileged, uid 101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Proxies /api to the backend</a:t>
            </a:r>
            <a:endParaRPr lang="en-US" sz="1200" dirty="0"/>
          </a:p>
        </p:txBody>
      </p:sp>
      <p:sp>
        <p:nvSpPr>
          <p:cNvPr id="13" name="card docker compose"/>
          <p:cNvSpPr/>
          <p:nvPr/>
        </p:nvSpPr>
        <p:spPr>
          <a:xfrm>
            <a:off x="6035040" y="1051560"/>
            <a:ext cx="26060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6217920" y="123444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12344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docker compose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73736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postgres + backend + frontend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Health checks and depends_on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One command for the full local stack</a:t>
            </a:r>
            <a:endParaRPr lang="en-US" sz="1200" dirty="0"/>
          </a:p>
        </p:txBody>
      </p:sp>
      <p:sp>
        <p:nvSpPr>
          <p:cNvPr id="18" name="tag rule"/>
          <p:cNvSpPr/>
          <p:nvPr/>
        </p:nvSpPr>
        <p:spPr>
          <a:xfrm>
            <a:off x="457200" y="365760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657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Tagging rule: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every image is tagged with the full git commit SHA, never "latest". So any running pod can be traced back to the exact commit that built 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CI/CD: four jobs on every push</a:t>
            </a:r>
            <a:endParaRPr lang="en-US" sz="2600" dirty="0"/>
          </a:p>
        </p:txBody>
      </p:sp>
      <p:sp>
        <p:nvSpPr>
          <p:cNvPr id="3" name="badge 1"/>
          <p:cNvSpPr/>
          <p:nvPr/>
        </p:nvSpPr>
        <p:spPr>
          <a:xfrm>
            <a:off x="457200" y="106984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69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05156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Test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pytest + frontend build</a:t>
            </a:r>
            <a:endParaRPr lang="en-US" sz="1400" dirty="0"/>
          </a:p>
        </p:txBody>
      </p:sp>
      <p:sp>
        <p:nvSpPr>
          <p:cNvPr id="6" name="badge 2"/>
          <p:cNvSpPr/>
          <p:nvPr/>
        </p:nvSpPr>
        <p:spPr>
          <a:xfrm>
            <a:off x="457200" y="189280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92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87452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Security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Semgrep, pip-audit, Trivy config, gitleaks</a:t>
            </a:r>
            <a:endParaRPr lang="en-US" sz="1400" dirty="0"/>
          </a:p>
        </p:txBody>
      </p:sp>
      <p:sp>
        <p:nvSpPr>
          <p:cNvPr id="9" name="badge 3"/>
          <p:cNvSpPr/>
          <p:nvPr/>
        </p:nvSpPr>
        <p:spPr>
          <a:xfrm>
            <a:off x="457200" y="271576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69748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Build, scan, push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Docker build → Trivy gate → GHCR</a:t>
            </a:r>
            <a:endParaRPr lang="en-US" sz="1400" dirty="0"/>
          </a:p>
        </p:txBody>
      </p:sp>
      <p:sp>
        <p:nvSpPr>
          <p:cNvPr id="12" name="badge 4"/>
          <p:cNvSpPr/>
          <p:nvPr/>
        </p:nvSpPr>
        <p:spPr>
          <a:xfrm>
            <a:off x="457200" y="353872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538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52044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Deploy + verify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kind cluster, Helm, Ingress smoke test, HPA, Prometheus</a:t>
            </a:r>
            <a:endParaRPr lang="en-US" sz="1400" dirty="0"/>
          </a:p>
        </p:txBody>
      </p:sp>
      <p:sp>
        <p:nvSpPr>
          <p:cNvPr id="15" name="frame c14.jpg"/>
          <p:cNvSpPr/>
          <p:nvPr/>
        </p:nvSpPr>
        <p:spPr>
          <a:xfrm>
            <a:off x="3584448" y="1638907"/>
            <a:ext cx="5129784" cy="2025707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c14.jpg" descr="c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1666339"/>
            <a:ext cx="5074920" cy="1970843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3611880" y="3728621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Run #10 on main: all four jobs green in 7 min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is a gate, not a report</a:t>
            </a:r>
            <a:endParaRPr lang="en-US" sz="2600" dirty="0"/>
          </a:p>
        </p:txBody>
      </p:sp>
      <p:sp>
        <p:nvSpPr>
          <p:cNvPr id="3" name="frame c16.jpg"/>
          <p:cNvSpPr/>
          <p:nvPr/>
        </p:nvSpPr>
        <p:spPr>
          <a:xfrm>
            <a:off x="429768" y="1658736"/>
            <a:ext cx="5175504" cy="2168927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c16.jpg" descr="c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86168"/>
            <a:ext cx="5120640" cy="2114063"/>
          </a:xfrm>
          <a:prstGeom prst="rect">
            <a:avLst/>
          </a:prstGeom>
        </p:spPr>
      </p:pic>
      <p:sp>
        <p:nvSpPr>
          <p:cNvPr id="5" name="badge 1"/>
          <p:cNvSpPr/>
          <p:nvPr/>
        </p:nvSpPr>
        <p:spPr>
          <a:xfrm>
            <a:off x="5806440" y="106984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06440" y="1069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1051560"/>
            <a:ext cx="2423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SAST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Semgrep on the Python and JS code</a:t>
            </a:r>
            <a:endParaRPr lang="en-US" sz="1400" dirty="0"/>
          </a:p>
        </p:txBody>
      </p:sp>
      <p:sp>
        <p:nvSpPr>
          <p:cNvPr id="8" name="badge 2"/>
          <p:cNvSpPr/>
          <p:nvPr/>
        </p:nvSpPr>
        <p:spPr>
          <a:xfrm>
            <a:off x="5806440" y="1911096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06440" y="1911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263640" y="1892808"/>
            <a:ext cx="2423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SCA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pip-audit on Python dependencies</a:t>
            </a:r>
            <a:endParaRPr lang="en-US" sz="1400" dirty="0"/>
          </a:p>
        </p:txBody>
      </p:sp>
      <p:sp>
        <p:nvSpPr>
          <p:cNvPr id="11" name="badge 3"/>
          <p:cNvSpPr/>
          <p:nvPr/>
        </p:nvSpPr>
        <p:spPr>
          <a:xfrm>
            <a:off x="5806440" y="2752344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06440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263640" y="2734056"/>
            <a:ext cx="2423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IaC + secrets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Trivy config on Terraform, Helm, Dockerfiles; gitleaks</a:t>
            </a:r>
            <a:endParaRPr lang="en-US" sz="1400" dirty="0"/>
          </a:p>
        </p:txBody>
      </p:sp>
      <p:sp>
        <p:nvSpPr>
          <p:cNvPr id="14" name="badge 4"/>
          <p:cNvSpPr/>
          <p:nvPr/>
        </p:nvSpPr>
        <p:spPr>
          <a:xfrm>
            <a:off x="5806440" y="359359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06440" y="3593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263640" y="3575304"/>
            <a:ext cx="2423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Image gate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Trivy fails the build on fixable HIGH / CRITICAL CVEs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Registry: GHCR, tagged by commit SHA</a:t>
            </a:r>
            <a:endParaRPr lang="en-US" sz="2600" dirty="0"/>
          </a:p>
        </p:txBody>
      </p:sp>
      <p:sp>
        <p:nvSpPr>
          <p:cNvPr id="3" name="frame 19-ghcr-backend.jpg"/>
          <p:cNvSpPr/>
          <p:nvPr/>
        </p:nvSpPr>
        <p:spPr>
          <a:xfrm>
            <a:off x="429768" y="1060854"/>
            <a:ext cx="4261104" cy="336469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19-ghcr-backend.jpg" descr="19-ghcr-backe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88286"/>
            <a:ext cx="4206240" cy="3309828"/>
          </a:xfrm>
          <a:prstGeom prst="rect">
            <a:avLst/>
          </a:prstGeom>
        </p:spPr>
      </p:pic>
      <p:sp>
        <p:nvSpPr>
          <p:cNvPr id="5" name="badge 1"/>
          <p:cNvSpPr/>
          <p:nvPr/>
        </p:nvSpPr>
        <p:spPr>
          <a:xfrm>
            <a:off x="4937760" y="111556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937760" y="1115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394960" y="1097280"/>
            <a:ext cx="3291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Two packages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careslot-backend and careslot-frontend, both public</a:t>
            </a:r>
            <a:endParaRPr lang="en-US" sz="1500" dirty="0"/>
          </a:p>
        </p:txBody>
      </p:sp>
      <p:sp>
        <p:nvSpPr>
          <p:cNvPr id="8" name="badge 2"/>
          <p:cNvSpPr/>
          <p:nvPr/>
        </p:nvSpPr>
        <p:spPr>
          <a:xfrm>
            <a:off x="4937760" y="212140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3776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394960" y="2103120"/>
            <a:ext cx="3291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One tag per commit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30c9918…, 5a7d466…: the same SHA as the git commit</a:t>
            </a:r>
            <a:endParaRPr lang="en-US" sz="1500" dirty="0"/>
          </a:p>
        </p:txBody>
      </p:sp>
      <p:sp>
        <p:nvSpPr>
          <p:cNvPr id="11" name="badge 3"/>
          <p:cNvSpPr/>
          <p:nvPr/>
        </p:nvSpPr>
        <p:spPr>
          <a:xfrm>
            <a:off x="4937760" y="312724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37760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394960" y="3108960"/>
            <a:ext cx="3291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Easy rollback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helm upgrade --set backend.tag=&lt;old SHA&gt; goes back to any build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as code on AWS</a:t>
            </a:r>
            <a:endParaRPr lang="en-US" sz="2600" dirty="0"/>
          </a:p>
        </p:txBody>
      </p:sp>
      <p:sp>
        <p:nvSpPr>
          <p:cNvPr id="3" name="frame 07-terraform-apply.png"/>
          <p:cNvSpPr/>
          <p:nvPr/>
        </p:nvSpPr>
        <p:spPr>
          <a:xfrm>
            <a:off x="429768" y="886968"/>
            <a:ext cx="4489704" cy="1601967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07-terraform-apply.png" descr="07-terraform-app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4434840" cy="1547103"/>
          </a:xfrm>
          <a:prstGeom prst="rect">
            <a:avLst/>
          </a:prstGeom>
        </p:spPr>
      </p:pic>
      <p:sp>
        <p:nvSpPr>
          <p:cNvPr id="5" name="frame 08-aws-vpc-eks-nodes.png"/>
          <p:cNvSpPr/>
          <p:nvPr/>
        </p:nvSpPr>
        <p:spPr>
          <a:xfrm>
            <a:off x="429768" y="2761488"/>
            <a:ext cx="4489704" cy="1601967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08-aws-vpc-eks-nodes.png" descr="08-aws-vpc-eks-nod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88920"/>
            <a:ext cx="4434840" cy="1547103"/>
          </a:xfrm>
          <a:prstGeom prst="rect">
            <a:avLst/>
          </a:prstGeom>
        </p:spPr>
      </p:pic>
      <p:sp>
        <p:nvSpPr>
          <p:cNvPr id="7" name="badge 1"/>
          <p:cNvSpPr/>
          <p:nvPr/>
        </p:nvSpPr>
        <p:spPr>
          <a:xfrm>
            <a:off x="5166360" y="102412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16636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623560" y="1005840"/>
            <a:ext cx="3063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VPC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10.30.0.0/16, 2 public + 2 private subnets, Sydney region</a:t>
            </a:r>
            <a:endParaRPr lang="en-US" sz="1400" dirty="0"/>
          </a:p>
        </p:txBody>
      </p:sp>
      <p:sp>
        <p:nvSpPr>
          <p:cNvPr id="10" name="badge 2"/>
          <p:cNvSpPr/>
          <p:nvPr/>
        </p:nvSpPr>
        <p:spPr>
          <a:xfrm>
            <a:off x="5166360" y="1865376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166360" y="1865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623560" y="1847088"/>
            <a:ext cx="3063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EKS 1.36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Secrets encrypted with KMS, add-ons incl. EBS CSI</a:t>
            </a:r>
            <a:endParaRPr lang="en-US" sz="1400" dirty="0"/>
          </a:p>
        </p:txBody>
      </p:sp>
      <p:sp>
        <p:nvSpPr>
          <p:cNvPr id="13" name="badge 3"/>
          <p:cNvSpPr/>
          <p:nvPr/>
        </p:nvSpPr>
        <p:spPr>
          <a:xfrm>
            <a:off x="5166360" y="2706624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166360" y="2706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623560" y="2688336"/>
            <a:ext cx="3063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Node group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2 × m7i-flex.large, launch template, IMDS hop limit 2</a:t>
            </a:r>
            <a:endParaRPr lang="en-US" sz="1400" dirty="0"/>
          </a:p>
        </p:txBody>
      </p:sp>
      <p:sp>
        <p:nvSpPr>
          <p:cNvPr id="16" name="badge 4"/>
          <p:cNvSpPr/>
          <p:nvPr/>
        </p:nvSpPr>
        <p:spPr>
          <a:xfrm>
            <a:off x="5166360" y="354787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166360" y="3547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5623560" y="3529584"/>
            <a:ext cx="3063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28 resources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Created with terraform apply, removed with destroy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 deployment with Helm</a:t>
            </a:r>
            <a:endParaRPr lang="en-US" sz="2600" dirty="0"/>
          </a:p>
        </p:txBody>
      </p:sp>
      <p:sp>
        <p:nvSpPr>
          <p:cNvPr id="3" name="frame c09.jpg"/>
          <p:cNvSpPr/>
          <p:nvPr/>
        </p:nvSpPr>
        <p:spPr>
          <a:xfrm>
            <a:off x="429768" y="1297919"/>
            <a:ext cx="4169664" cy="2433361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c09.jpg" descr="c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351"/>
            <a:ext cx="4114800" cy="237849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795289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kubectl get pods,svc,ingress,hpa  ·  helm list on EKS</a:t>
            </a:r>
            <a:endParaRPr lang="en-US" sz="1000" dirty="0"/>
          </a:p>
        </p:txBody>
      </p:sp>
      <p:sp>
        <p:nvSpPr>
          <p:cNvPr id="6" name="frame 10-eks-app-via-ingress.jpg"/>
          <p:cNvSpPr/>
          <p:nvPr/>
        </p:nvSpPr>
        <p:spPr>
          <a:xfrm>
            <a:off x="4727448" y="1440476"/>
            <a:ext cx="3986784" cy="2148247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10-eks-app-via-ingress.jpg" descr="10-eks-app-via-ingres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7908"/>
            <a:ext cx="3931920" cy="209338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754880" y="36527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The app served through the Ingress (AWS load balancer)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One chart: Deployments, Services, Ingress, HPA, PDBs, ServiceMonitor, ConfigMap, generated DB Secret, probes and resource limits.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Observability: Prometheus and Grafana</a:t>
            </a:r>
            <a:endParaRPr lang="en-US" sz="2600" dirty="0"/>
          </a:p>
        </p:txBody>
      </p:sp>
      <p:sp>
        <p:nvSpPr>
          <p:cNvPr id="3" name="frame 11-prometheus-targets-up.jpg"/>
          <p:cNvSpPr/>
          <p:nvPr/>
        </p:nvSpPr>
        <p:spPr>
          <a:xfrm>
            <a:off x="429768" y="1416135"/>
            <a:ext cx="4078224" cy="2196931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11-prometheus-targets-up.jpg" descr="11-prometheus-targets-u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43567"/>
            <a:ext cx="4023360" cy="214206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677073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ServiceMonitor: both backend pods scraped, state UP</a:t>
            </a:r>
            <a:endParaRPr lang="en-US" sz="1000" dirty="0"/>
          </a:p>
        </p:txBody>
      </p:sp>
      <p:sp>
        <p:nvSpPr>
          <p:cNvPr id="6" name="frame 12-grafana-dashboard.jpg"/>
          <p:cNvSpPr/>
          <p:nvPr/>
        </p:nvSpPr>
        <p:spPr>
          <a:xfrm>
            <a:off x="4636008" y="1416135"/>
            <a:ext cx="4078224" cy="2196931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12-grafana-dashboard.jpg" descr="12-grafana-dashboar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43567"/>
            <a:ext cx="4023360" cy="214206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663440" y="3677073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CareSlot dashboard: req/s, p95 latency, errors, bookings, pods, HPA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commit to running deployment</a:t>
            </a:r>
            <a:endParaRPr lang="en-US" sz="2600" dirty="0"/>
          </a:p>
        </p:txBody>
      </p:sp>
      <p:sp>
        <p:nvSpPr>
          <p:cNvPr id="3" name="badge 1"/>
          <p:cNvSpPr/>
          <p:nvPr/>
        </p:nvSpPr>
        <p:spPr>
          <a:xfrm>
            <a:off x="457200" y="102412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00584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Commit and push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git push to main triggers the workflow</a:t>
            </a:r>
            <a:endParaRPr lang="en-US" sz="1400" dirty="0"/>
          </a:p>
        </p:txBody>
      </p:sp>
      <p:sp>
        <p:nvSpPr>
          <p:cNvPr id="6" name="badge 2"/>
          <p:cNvSpPr/>
          <p:nvPr/>
        </p:nvSpPr>
        <p:spPr>
          <a:xfrm>
            <a:off x="457200" y="171907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19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700784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Test and scan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Any failure stops the pipeline here</a:t>
            </a:r>
            <a:endParaRPr lang="en-US" sz="1400" dirty="0"/>
          </a:p>
        </p:txBody>
      </p:sp>
      <p:sp>
        <p:nvSpPr>
          <p:cNvPr id="9" name="badge 3"/>
          <p:cNvSpPr/>
          <p:nvPr/>
        </p:nvSpPr>
        <p:spPr>
          <a:xfrm>
            <a:off x="457200" y="2414016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395728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Build and push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New images tagged with the new SHA</a:t>
            </a:r>
            <a:endParaRPr lang="en-US" sz="1400" dirty="0"/>
          </a:p>
        </p:txBody>
      </p:sp>
      <p:sp>
        <p:nvSpPr>
          <p:cNvPr id="12" name="badge 4"/>
          <p:cNvSpPr/>
          <p:nvPr/>
        </p:nvSpPr>
        <p:spPr>
          <a:xfrm>
            <a:off x="457200" y="310896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108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09067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helm upgrade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--set backend.tag=&lt;SHA&gt;: rolling update, zero downtime</a:t>
            </a:r>
            <a:endParaRPr lang="en-US" sz="1400" dirty="0"/>
          </a:p>
        </p:txBody>
      </p:sp>
      <p:sp>
        <p:nvSpPr>
          <p:cNvPr id="15" name="badge 5"/>
          <p:cNvSpPr/>
          <p:nvPr/>
        </p:nvSpPr>
        <p:spPr>
          <a:xfrm>
            <a:off x="457200" y="3803904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803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785616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Verify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Rollout status, Ingress smoke test, Prometheus target UP</a:t>
            </a:r>
            <a:endParaRPr lang="en-US" sz="1400" dirty="0"/>
          </a:p>
        </p:txBody>
      </p:sp>
      <p:sp>
        <p:nvSpPr>
          <p:cNvPr id="18" name="frame c17.jpg"/>
          <p:cNvSpPr/>
          <p:nvPr/>
        </p:nvSpPr>
        <p:spPr>
          <a:xfrm>
            <a:off x="3904488" y="1688519"/>
            <a:ext cx="4809744" cy="201792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9" name="c17.jpg" descr="c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715951"/>
            <a:ext cx="4754880" cy="1963059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3931920" y="3770449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Deploy job of run #10: every step green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Cleanup and lessons</a:t>
            </a:r>
            <a:endParaRPr lang="en-US" sz="3200" dirty="0"/>
          </a:p>
        </p:txBody>
      </p:sp>
      <p:pic>
        <p:nvPicPr>
          <p:cNvPr id="3" name="destroy" descr="terraform destroy outp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023360" cy="140355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697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B8B2"/>
                </a:solidFill>
              </a:rPr>
              <a:t>terraform destroy: 28 resources removed, nothing left running</a:t>
            </a:r>
            <a:endParaRPr lang="en-US" sz="1000" dirty="0"/>
          </a:p>
        </p:txBody>
      </p:sp>
      <p:sp>
        <p:nvSpPr>
          <p:cNvPr id="5" name="lesson 0"/>
          <p:cNvSpPr/>
          <p:nvPr/>
        </p:nvSpPr>
        <p:spPr>
          <a:xfrm>
            <a:off x="4937760" y="1188720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937760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394960" y="1170432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Tests first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B9D6D2"/>
                </a:solidFill>
              </a:rPr>
              <a:t>The cheapest place to catch a bug is before an image exists.</a:t>
            </a:r>
            <a:endParaRPr lang="en-US" sz="1500" dirty="0"/>
          </a:p>
        </p:txBody>
      </p:sp>
      <p:sp>
        <p:nvSpPr>
          <p:cNvPr id="8" name="lesson 1"/>
          <p:cNvSpPr/>
          <p:nvPr/>
        </p:nvSpPr>
        <p:spPr>
          <a:xfrm>
            <a:off x="4937760" y="2240280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37760" y="2240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394960" y="2221992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Readiness ≠ liveness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B9D6D2"/>
                </a:solidFill>
              </a:rPr>
              <a:t>/ready checks the database, so a bad DB pulls pods out of traffic instead of restart-looping them.</a:t>
            </a:r>
            <a:endParaRPr lang="en-US" sz="1500" dirty="0"/>
          </a:p>
        </p:txBody>
      </p:sp>
      <p:sp>
        <p:nvSpPr>
          <p:cNvPr id="11" name="lesson 2"/>
          <p:cNvSpPr/>
          <p:nvPr/>
        </p:nvSpPr>
        <p:spPr>
          <a:xfrm>
            <a:off x="4937760" y="3291840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37760" y="3291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394960" y="3273552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Infrastructure costs money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B9D6D2"/>
                </a:solidFill>
              </a:rPr>
              <a:t>No NAT gateway, small node group, and always terraform destroy.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github.com/Saniya1613/devops-homework  ·  session-21-final-devops-project</a:t>
            </a:r>
            <a:endParaRPr lang="en-US" sz="1100" dirty="0"/>
          </a:p>
        </p:txBody>
      </p:sp>
      <p:sp>
        <p:nvSpPr>
          <p:cNvPr id="15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endParaRPr lang="en-US" sz="4800" dirty="0"/>
          </a:p>
        </p:txBody>
      </p:sp>
      <p:sp>
        <p:nvSpPr>
          <p:cNvPr id="16" name="Text 0"/>
          <p:cNvSpPr/>
          <p:nvPr>
            <p:ph idx="101" type="body" hasCustomPrompt="1"/>
          </p:nvPr>
        </p:nvSpPr>
        <p:spPr>
          <a:xfrm>
            <a:off x="548640" y="24688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reSlot">
  <a:themeElements>
    <a:clrScheme name="CareSlot">
      <a:dk1>
        <a:srgbClr val="12302E"/>
      </a:dk1>
      <a:lt1>
        <a:srgbClr val="FFFFFF"/>
      </a:lt1>
      <a:dk2>
        <a:srgbClr val="0B2B29"/>
      </a:dk2>
      <a:lt2>
        <a:srgbClr val="EEF5F4"/>
      </a:lt2>
      <a:accent1>
        <a:srgbClr val="0F766E"/>
      </a:accent1>
      <a:accent2>
        <a:srgbClr val="F59E0B"/>
      </a:accent2>
      <a:accent3>
        <a:srgbClr val="14B8A6"/>
      </a:accent3>
      <a:accent4>
        <a:srgbClr val="5F7471"/>
      </a:accent4>
      <a:accent5>
        <a:srgbClr val="E0F2EF"/>
      </a:accent5>
      <a:accent6>
        <a:srgbClr val="B45309"/>
      </a:accent6>
      <a:hlink>
        <a:srgbClr val="0F766E"/>
      </a:hlink>
      <a:folHlink>
        <a:srgbClr val="115E59"/>
      </a:folHlink>
    </a:clrScheme>
    <a:fontScheme name="CareSlo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CareSlot - Session 21 Final DevOps Project</dc:title>
  <dc:subject>PptxGenJS Presentation</dc:subject>
  <dc:creator>Saniya Sanjiv Patil</dc:creator>
  <cp:lastModifiedBy>Saniya Sanjiv Patil</cp:lastModifiedBy>
  <cp:revision>1</cp:revision>
  <dcterms:created xsi:type="dcterms:W3CDTF">2026-10-26T11:52:01Z</dcterms:created>
  <dcterms:modified xsi:type="dcterms:W3CDTF">2026-10-26T11:52:01Z</dcterms:modified>
</cp:coreProperties>
</file>